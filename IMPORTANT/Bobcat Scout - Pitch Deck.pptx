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5"/>
    <p:sldId id="265" r:id="rId16"/>
    <p:sldId id="266" r:id="rId17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warm. This is Bobcat Scout — a free, voice-powered scouting app built for Team 177. The whole pitch in one line: scout by voice, win by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Anyone who's scouted from the stands knows this. Thumbs flying on a tiny keyboard, crowd noise drowning everything, and half the entries come back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fix. The scouter just watches the match and talks. The app listens, parses it, fills the form, and sends it — no typing, no looking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ahead of the pushback now: nobody loves talking or wearing a headset. But this isn't play-by-play — it's about five seconds of short phrases a match, into a headset that isolates you so nobody hears it. The real win is you finally watch the match you're scoring instead of staring at your thumbs. Faster, cleaner data, and a less miserable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submission lands in one private team Google Sheet you control. Scouters can send to it, but they can't open it or edit what's already there — so nobody can peek at picks or break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it pays off. The app turns those rows into team ratings, win predictions, and a ranked pick list — then checks itself against the real Blue Alliance results so you can trust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it's cheap to run. A few phones, some noise-isolating headsets so scouters can hear themselves, and one team Google account. That's the whole shopping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free, and it's live right now at codeteamshere.github.io/bobcat-scout. I'm asking for one thing: let's pilot it this season.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43000" y="981075"/>
            <a:ext cx="133350" cy="133350"/>
          </a:xfrm>
          <a:prstGeom prst="rect">
            <a:avLst/>
          </a:prstGeom>
          <a:solidFill>
            <a:srgbClr val="C9972F"/>
          </a:solidFill>
          <a:ln/>
        </p:spPr>
      </p:sp>
      <p:sp>
        <p:nvSpPr>
          <p:cNvPr id="3" name="Text 1"/>
          <p:cNvSpPr/>
          <p:nvPr/>
        </p:nvSpPr>
        <p:spPr>
          <a:xfrm>
            <a:off x="1447800" y="914400"/>
            <a:ext cx="90088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C99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ROBOTICS · TEAM 177 · BOBCAT ROBOTICS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990404"/>
            <a:ext cx="16482060" cy="2982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921"/>
              </a:lnSpc>
              <a:buNone/>
            </a:pPr>
            <a:r>
              <a:rPr lang="en-US" sz="12600" dirty="0">
                <a:solidFill>
                  <a:srgbClr val="F4EB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Bobcat Scout</a:t>
            </a:r>
            <a:endParaRPr lang="en-US" sz="12600" dirty="0"/>
          </a:p>
        </p:txBody>
      </p:sp>
      <p:sp>
        <p:nvSpPr>
          <p:cNvPr id="5" name="Shape 3"/>
          <p:cNvSpPr/>
          <p:nvPr/>
        </p:nvSpPr>
        <p:spPr>
          <a:xfrm>
            <a:off x="1143000" y="6315521"/>
            <a:ext cx="1905000" cy="57150"/>
          </a:xfrm>
          <a:prstGeom prst="rect">
            <a:avLst/>
          </a:prstGeom>
          <a:solidFill>
            <a:srgbClr val="C9972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6753671"/>
            <a:ext cx="17602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35" kern="0" dirty="0">
                <a:solidFill>
                  <a:srgbClr val="F4E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 by voice. Win by data.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143000" y="9077325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EBD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pitch for the 2026 season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C99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504950"/>
            <a:ext cx="13735050" cy="1747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387"/>
              </a:lnSpc>
              <a:buNone/>
            </a:pPr>
            <a:r>
              <a:rPr lang="en-US" sz="66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Scouting in the stands is slow, loud, and full of typos.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7610475"/>
            <a:ext cx="5029200" cy="47625"/>
          </a:xfrm>
          <a:prstGeom prst="rect">
            <a:avLst/>
          </a:prstGeom>
          <a:solidFill>
            <a:srgbClr val="5E1224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7924800"/>
            <a:ext cx="553212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71"/>
              </a:lnSpc>
              <a:buNone/>
            </a:pPr>
            <a:r>
              <a:rPr lang="en-US" sz="4800" dirty="0">
                <a:solidFill>
                  <a:srgbClr val="5E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8667750"/>
            <a:ext cx="5180076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A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Tapping tiny forms means scouters fall a match behind.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629400" y="7610475"/>
            <a:ext cx="5029200" cy="47625"/>
          </a:xfrm>
          <a:prstGeom prst="rect">
            <a:avLst/>
          </a:prstGeom>
          <a:solidFill>
            <a:srgbClr val="5E1224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7924800"/>
            <a:ext cx="553212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71"/>
              </a:lnSpc>
              <a:buNone/>
            </a:pPr>
            <a:r>
              <a:rPr lang="en-US" sz="4800" dirty="0">
                <a:solidFill>
                  <a:srgbClr val="5E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Loud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629400" y="8667750"/>
            <a:ext cx="5180076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A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 noise and adrenaline make heads-down typing miserable.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15800" y="7610475"/>
            <a:ext cx="5029200" cy="47625"/>
          </a:xfrm>
          <a:prstGeom prst="rect">
            <a:avLst/>
          </a:prstGeom>
          <a:solidFill>
            <a:srgbClr val="5E1224"/>
          </a:solidFill>
          <a:ln/>
        </p:spPr>
      </p:sp>
      <p:sp>
        <p:nvSpPr>
          <p:cNvPr id="11" name="Text 9"/>
          <p:cNvSpPr/>
          <p:nvPr/>
        </p:nvSpPr>
        <p:spPr>
          <a:xfrm>
            <a:off x="12115800" y="7924800"/>
            <a:ext cx="553212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71"/>
              </a:lnSpc>
              <a:buNone/>
            </a:pPr>
            <a:r>
              <a:rPr lang="en-US" sz="4800" dirty="0">
                <a:solidFill>
                  <a:srgbClr val="5E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115800" y="8667750"/>
            <a:ext cx="5180076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A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entries quietly poison every ranking you build later.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C99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4018806"/>
            <a:ext cx="152400" cy="152400"/>
          </a:xfrm>
          <a:prstGeom prst="ellipse">
            <a:avLst/>
          </a:prstGeom>
          <a:solidFill>
            <a:srgbClr val="C9972F"/>
          </a:solidFill>
          <a:ln/>
        </p:spPr>
      </p:sp>
      <p:sp>
        <p:nvSpPr>
          <p:cNvPr id="4" name="Text 2"/>
          <p:cNvSpPr/>
          <p:nvPr/>
        </p:nvSpPr>
        <p:spPr>
          <a:xfrm>
            <a:off x="1447800" y="3961656"/>
            <a:ext cx="26154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5E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SCOUTER SAYS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4514106"/>
            <a:ext cx="7568227" cy="160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45"/>
              </a:lnSpc>
              <a:buNone/>
            </a:pPr>
            <a:r>
              <a:rPr lang="en-US" sz="5700" dirty="0">
                <a:solidFill>
                  <a:srgbClr val="5E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“Team 177 — four in auto, climbed high.”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9252793" y="4581525"/>
            <a:ext cx="838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dirty="0">
                <a:solidFill>
                  <a:srgbClr val="C99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10776793" y="3462338"/>
            <a:ext cx="6368207" cy="3114675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9525">
            <a:solidFill>
              <a:srgbClr val="EADFC6"/>
            </a:solidFill>
            <a:prstDash val="solid"/>
          </a:ln>
          <a:effectLst>
            <a:outerShdw sx="100000" sy="100000" kx="0" ky="0" algn="bl" rotWithShape="0" blurRad="476250" dist="171450" dir="5400000">
              <a:srgbClr val="4A0E1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205418" y="3852863"/>
            <a:ext cx="60620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9A8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AUTO-FILLED · SENDING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205418" y="4852988"/>
            <a:ext cx="5510957" cy="9525"/>
          </a:xfrm>
          <a:prstGeom prst="rect">
            <a:avLst/>
          </a:prstGeom>
          <a:solidFill>
            <a:srgbClr val="EADFC6"/>
          </a:solidFill>
          <a:ln/>
        </p:spPr>
      </p:sp>
      <p:sp>
        <p:nvSpPr>
          <p:cNvPr id="10" name="Text 8"/>
          <p:cNvSpPr/>
          <p:nvPr/>
        </p:nvSpPr>
        <p:spPr>
          <a:xfrm>
            <a:off x="11205418" y="4376738"/>
            <a:ext cx="78462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6175980" y="4329113"/>
            <a:ext cx="6165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1205418" y="5595938"/>
            <a:ext cx="5510957" cy="9525"/>
          </a:xfrm>
          <a:prstGeom prst="rect">
            <a:avLst/>
          </a:prstGeom>
          <a:solidFill>
            <a:srgbClr val="EADFC6"/>
          </a:solidFill>
          <a:ln/>
        </p:spPr>
      </p:sp>
      <p:sp>
        <p:nvSpPr>
          <p:cNvPr id="13" name="Text 11"/>
          <p:cNvSpPr/>
          <p:nvPr/>
        </p:nvSpPr>
        <p:spPr>
          <a:xfrm>
            <a:off x="11205418" y="5119688"/>
            <a:ext cx="16819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scored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6536144" y="5072063"/>
            <a:ext cx="25643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1205418" y="5862638"/>
            <a:ext cx="13566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Endgame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4934754" y="5815013"/>
            <a:ext cx="19597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5E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· High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143000" y="8858250"/>
            <a:ext cx="17602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typing. No looking down. Just talk.</a:t>
            </a:r>
            <a:endParaRPr lang="en-US" sz="3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C99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VOICE WINS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66850"/>
            <a:ext cx="14668500" cy="892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387"/>
              </a:lnSpc>
              <a:buNone/>
            </a:pPr>
            <a:r>
              <a:rPr lang="en-US" sz="66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barely talk. You see everything.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3637359"/>
            <a:ext cx="7839075" cy="4048125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9525">
            <a:solidFill>
              <a:srgbClr val="EADF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1625" y="4027884"/>
            <a:ext cx="76800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9A8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THUMBS ON A PHONE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1625" y="4542234"/>
            <a:ext cx="2658011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579"/>
              </a:lnSpc>
              <a:buNone/>
            </a:pPr>
            <a:r>
              <a:rPr lang="en-US" sz="6300" dirty="0">
                <a:solidFill>
                  <a:srgbClr val="9A8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 min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4159448" y="4942284"/>
            <a:ext cx="153903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heads-down per match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571625" y="5780484"/>
            <a:ext cx="6981825" cy="9525"/>
          </a:xfrm>
          <a:prstGeom prst="rect">
            <a:avLst/>
          </a:prstGeom>
          <a:solidFill>
            <a:srgbClr val="EADFC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6037659"/>
            <a:ext cx="725805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 locked on a 5-inch screen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miss the play you're scoring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Typos pile up, unnoticed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24975" y="3637359"/>
            <a:ext cx="7820025" cy="4048125"/>
          </a:xfrm>
          <a:prstGeom prst="roundRect">
            <a:avLst>
              <a:gd name="adj" fmla="val 1882"/>
            </a:avLst>
          </a:prstGeom>
          <a:solidFill>
            <a:srgbClr val="5E1224"/>
          </a:solidFill>
          <a:ln/>
          <a:effectLst>
            <a:outerShdw sx="100000" sy="100000" kx="0" ky="0" algn="bl" rotWithShape="0" blurRad="476250" dist="190500" dir="5400000">
              <a:srgbClr val="4A0E1C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744075" y="4018359"/>
            <a:ext cx="76800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C99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+ HEADSET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44075" y="4532709"/>
            <a:ext cx="240098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579"/>
              </a:lnSpc>
              <a:buNone/>
            </a:pPr>
            <a:r>
              <a:rPr lang="en-US" sz="6300" dirty="0">
                <a:solidFill>
                  <a:srgbClr val="F4EB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 sec</a:t>
            </a:r>
            <a:endParaRPr lang="en-US" sz="6300" dirty="0"/>
          </a:p>
        </p:txBody>
      </p:sp>
      <p:sp>
        <p:nvSpPr>
          <p:cNvPr id="13" name="Text 11"/>
          <p:cNvSpPr/>
          <p:nvPr/>
        </p:nvSpPr>
        <p:spPr>
          <a:xfrm>
            <a:off x="12098238" y="4932759"/>
            <a:ext cx="125506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EBD7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talking per match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744075" y="5770959"/>
            <a:ext cx="6981825" cy="9525"/>
          </a:xfrm>
          <a:prstGeom prst="rect">
            <a:avLst/>
          </a:prstGeom>
          <a:solidFill>
            <a:srgbClr val="F4EBD7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544050" y="6028134"/>
            <a:ext cx="725805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E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 on the field, the whole match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>
                <a:solidFill>
                  <a:srgbClr val="F4E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Headset isolates you — nobody hears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>
                <a:solidFill>
                  <a:srgbClr val="F4E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 once, it logs clean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43000" y="9001125"/>
            <a:ext cx="17602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5A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phrases, not play-by-play. You finally watch the match instead of your thumbs.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E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C99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DATA GOES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66850"/>
            <a:ext cx="12753975" cy="1747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387"/>
              </a:lnSpc>
              <a:buNone/>
            </a:pPr>
            <a:r>
              <a:rPr lang="en-US" sz="6600" b="1" dirty="0">
                <a:solidFill>
                  <a:srgbClr val="F4E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into one private team sheet.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6877050"/>
            <a:ext cx="9009459" cy="249555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0" dist="2286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6877050"/>
            <a:ext cx="9009459" cy="647700"/>
          </a:xfrm>
          <a:prstGeom prst="rect">
            <a:avLst/>
          </a:prstGeom>
          <a:solidFill>
            <a:srgbClr val="4A0E1C"/>
          </a:solidFill>
          <a:ln/>
        </p:spPr>
      </p:sp>
      <p:sp>
        <p:nvSpPr>
          <p:cNvPr id="6" name="Text 4"/>
          <p:cNvSpPr/>
          <p:nvPr/>
        </p:nvSpPr>
        <p:spPr>
          <a:xfrm>
            <a:off x="1409700" y="7067550"/>
            <a:ext cx="1795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E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62065" y="7067550"/>
            <a:ext cx="1795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E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14430" y="7067550"/>
            <a:ext cx="1795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E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66795" y="7067550"/>
            <a:ext cx="1795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E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Endgame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8134350"/>
            <a:ext cx="9009459" cy="9525"/>
          </a:xfrm>
          <a:prstGeom prst="rect">
            <a:avLst/>
          </a:prstGeom>
          <a:solidFill>
            <a:srgbClr val="EADFC6"/>
          </a:solidFill>
          <a:ln/>
        </p:spPr>
      </p:sp>
      <p:sp>
        <p:nvSpPr>
          <p:cNvPr id="11" name="Text 9"/>
          <p:cNvSpPr/>
          <p:nvPr/>
        </p:nvSpPr>
        <p:spPr>
          <a:xfrm>
            <a:off x="1409700" y="7696200"/>
            <a:ext cx="1795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662065" y="7696200"/>
            <a:ext cx="1795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914430" y="7696200"/>
            <a:ext cx="1795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166795" y="7696200"/>
            <a:ext cx="1795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· High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43000" y="8143875"/>
            <a:ext cx="9009459" cy="619125"/>
          </a:xfrm>
          <a:prstGeom prst="rect">
            <a:avLst/>
          </a:prstGeom>
          <a:solidFill>
            <a:srgbClr val="F4EBD7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8753475"/>
            <a:ext cx="9009459" cy="9525"/>
          </a:xfrm>
          <a:prstGeom prst="rect">
            <a:avLst/>
          </a:prstGeom>
          <a:solidFill>
            <a:srgbClr val="EADFC6"/>
          </a:solidFill>
          <a:ln/>
        </p:spPr>
      </p:sp>
      <p:sp>
        <p:nvSpPr>
          <p:cNvPr id="17" name="Text 15"/>
          <p:cNvSpPr/>
          <p:nvPr/>
        </p:nvSpPr>
        <p:spPr>
          <a:xfrm>
            <a:off x="1409700" y="8315325"/>
            <a:ext cx="1795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3662065" y="8315325"/>
            <a:ext cx="1795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254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5914430" y="8315325"/>
            <a:ext cx="1795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8166795" y="8315325"/>
            <a:ext cx="1795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409700" y="8934450"/>
            <a:ext cx="1795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3662065" y="8934450"/>
            <a:ext cx="1795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1114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5914430" y="8934450"/>
            <a:ext cx="1795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8166795" y="8934450"/>
            <a:ext cx="17951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· Low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838259" y="7553325"/>
            <a:ext cx="438150" cy="438150"/>
          </a:xfrm>
          <a:prstGeom prst="roundRect">
            <a:avLst>
              <a:gd name="adj" fmla="val 17391"/>
            </a:avLst>
          </a:prstGeom>
          <a:ln w="38100">
            <a:solidFill>
              <a:srgbClr val="C9972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81134" y="769620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C9972F"/>
          </a:solidFill>
          <a:ln/>
        </p:spPr>
      </p:sp>
      <p:sp>
        <p:nvSpPr>
          <p:cNvPr id="27" name="Text 25"/>
          <p:cNvSpPr/>
          <p:nvPr/>
        </p:nvSpPr>
        <p:spPr>
          <a:xfrm>
            <a:off x="11447859" y="7610475"/>
            <a:ext cx="234090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E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Scouters submit.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0838259" y="8258175"/>
            <a:ext cx="438150" cy="438150"/>
          </a:xfrm>
          <a:prstGeom prst="roundRect">
            <a:avLst>
              <a:gd name="adj" fmla="val 17391"/>
            </a:avLst>
          </a:prstGeom>
          <a:ln w="38100">
            <a:solidFill>
              <a:srgbClr val="F4EBD7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54452" y="8296275"/>
            <a:ext cx="4057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4EBD7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1447859" y="8315325"/>
            <a:ext cx="36517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EBD7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never open or edit it.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C99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66850"/>
            <a:ext cx="13620750" cy="892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387"/>
              </a:lnSpc>
              <a:buNone/>
            </a:pPr>
            <a:r>
              <a:rPr lang="en-US" sz="66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become decisions.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5638800"/>
            <a:ext cx="782955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ADF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1625" y="6010275"/>
            <a:ext cx="498277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C99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2260402" y="6210300"/>
            <a:ext cx="566750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ratings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260402" y="6667500"/>
            <a:ext cx="56675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team scored on what they actually do.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315450" y="5638800"/>
            <a:ext cx="782955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ADF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44075" y="6010275"/>
            <a:ext cx="588466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C99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0523041" y="6210300"/>
            <a:ext cx="590390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predictions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523041" y="6667500"/>
            <a:ext cx="59039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Odds for upcoming matches, before they play.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7677150"/>
            <a:ext cx="782955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ADF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71625" y="8048625"/>
            <a:ext cx="588466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C99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2350591" y="8248650"/>
            <a:ext cx="481490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pick list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350591" y="8705850"/>
            <a:ext cx="48149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selection, ordered and ready.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315450" y="7677150"/>
            <a:ext cx="7829550" cy="1695450"/>
          </a:xfrm>
          <a:prstGeom prst="roundRect">
            <a:avLst>
              <a:gd name="adj" fmla="val 3371"/>
            </a:avLst>
          </a:prstGeom>
          <a:solidFill>
            <a:srgbClr val="5E1224"/>
          </a:solidFill>
          <a:ln/>
        </p:spPr>
      </p:sp>
      <p:sp>
        <p:nvSpPr>
          <p:cNvPr id="17" name="Text 15"/>
          <p:cNvSpPr/>
          <p:nvPr/>
        </p:nvSpPr>
        <p:spPr>
          <a:xfrm>
            <a:off x="9734550" y="8039100"/>
            <a:ext cx="591443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C99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0516493" y="8239125"/>
            <a:ext cx="553408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E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itself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0516493" y="8696325"/>
            <a:ext cx="55340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EBD7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against real Blue Alliance results.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C99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 RUN 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66850"/>
            <a:ext cx="17602200" cy="892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387"/>
              </a:lnSpc>
              <a:buNone/>
            </a:pPr>
            <a:r>
              <a:rPr lang="en-US" sz="66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$100 to try it.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7035254"/>
            <a:ext cx="5587945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66"/>
              </a:lnSpc>
              <a:buNone/>
            </a:pPr>
            <a:r>
              <a:rPr lang="en-US" sz="7200" dirty="0">
                <a:solidFill>
                  <a:srgbClr val="5E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few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8048625"/>
            <a:ext cx="55879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8667750"/>
            <a:ext cx="5232349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A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scouter — the ones in their pockets work fine.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603950" y="7035254"/>
            <a:ext cx="5587945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66"/>
              </a:lnSpc>
              <a:buNone/>
            </a:pPr>
            <a:r>
              <a:rPr lang="en-US" sz="7200" dirty="0">
                <a:solidFill>
                  <a:srgbClr val="5E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603950" y="8048625"/>
            <a:ext cx="55879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Logitech H390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603950" y="8667750"/>
            <a:ext cx="5232349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A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Wired USB, noise cancelling boom mic. No pairing, no battery.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2064901" y="7035254"/>
            <a:ext cx="5587945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66"/>
              </a:lnSpc>
              <a:buNone/>
            </a:pPr>
            <a:r>
              <a:rPr lang="en-US" sz="7200" dirty="0">
                <a:solidFill>
                  <a:srgbClr val="5E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12064901" y="8048625"/>
            <a:ext cx="55879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account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064901" y="8667750"/>
            <a:ext cx="5232349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A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account that owns the private sheet.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E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43000" y="981075"/>
            <a:ext cx="133350" cy="133350"/>
          </a:xfrm>
          <a:prstGeom prst="rect">
            <a:avLst/>
          </a:prstGeom>
          <a:solidFill>
            <a:srgbClr val="C9972F"/>
          </a:solidFill>
          <a:ln/>
        </p:spPr>
      </p:sp>
      <p:sp>
        <p:nvSpPr>
          <p:cNvPr id="3" name="Text 1"/>
          <p:cNvSpPr/>
          <p:nvPr/>
        </p:nvSpPr>
        <p:spPr>
          <a:xfrm>
            <a:off x="1447800" y="914400"/>
            <a:ext cx="32039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C99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LIVE 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279577"/>
            <a:ext cx="16482060" cy="2232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706"/>
              </a:lnSpc>
              <a:buNone/>
            </a:pPr>
            <a:r>
              <a:rPr lang="en-US" sz="9000" dirty="0">
                <a:solidFill>
                  <a:srgbClr val="F4EB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pilot it this season.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1143000" y="5892998"/>
            <a:ext cx="7315051" cy="866775"/>
          </a:xfrm>
          <a:prstGeom prst="roundRect">
            <a:avLst>
              <a:gd name="adj" fmla="val 8791"/>
            </a:avLst>
          </a:prstGeom>
          <a:solidFill>
            <a:srgbClr val="F4EBD7"/>
          </a:solidFill>
          <a:ln/>
        </p:spPr>
      </p:sp>
      <p:sp>
        <p:nvSpPr>
          <p:cNvPr id="6" name="Shape 4"/>
          <p:cNvSpPr/>
          <p:nvPr/>
        </p:nvSpPr>
        <p:spPr>
          <a:xfrm>
            <a:off x="1504950" y="6259711"/>
            <a:ext cx="133350" cy="133350"/>
          </a:xfrm>
          <a:prstGeom prst="ellipse">
            <a:avLst/>
          </a:prstGeom>
          <a:solidFill>
            <a:srgbClr val="5E1224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6121598"/>
            <a:ext cx="689403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29" kern="0" dirty="0">
                <a:solidFill>
                  <a:srgbClr val="5E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codeteamshere.github.io/bobcat-scout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43000" y="8858250"/>
            <a:ext cx="242881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9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Bobcat Scout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2464" y="9020175"/>
            <a:ext cx="34371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EBD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 by voice. Win by data.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BD7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43000" y="9144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C99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REPLACE WHAT WE DO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66850"/>
            <a:ext cx="14668500" cy="892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387"/>
              </a:lnSpc>
              <a:buNone/>
            </a:pPr>
            <a:r>
              <a:rPr lang="en-US" sz="66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beside what we already do.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3637359"/>
            <a:ext cx="7839075" cy="4048125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9525">
            <a:solidFill>
              <a:srgbClr val="EADF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1625" y="4027884"/>
            <a:ext cx="76800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9A8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THE EVENT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1625" y="4542234"/>
            <a:ext cx="2658011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579"/>
              </a:lnSpc>
              <a:buNone/>
            </a:pPr>
            <a:r>
              <a:rPr lang="en-US" sz="6300" dirty="0">
                <a:solidFill>
                  <a:srgbClr val="9A8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4159448" y="4942284"/>
            <a:ext cx="27432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at once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571625" y="5780484"/>
            <a:ext cx="6981825" cy="9525"/>
          </a:xfrm>
          <a:prstGeom prst="rect">
            <a:avLst/>
          </a:prstGeom>
          <a:solidFill>
            <a:srgbClr val="EADFC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6037659"/>
            <a:ext cx="725805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scouting keeps going exactly as it is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people also run Bobcat Scout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matches, two independent records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24975" y="3637359"/>
            <a:ext cx="7820025" cy="4048125"/>
          </a:xfrm>
          <a:prstGeom prst="roundRect">
            <a:avLst>
              <a:gd name="adj" fmla="val 1882"/>
            </a:avLst>
          </a:prstGeom>
          <a:solidFill>
            <a:srgbClr val="5E1224"/>
          </a:solidFill>
          <a:ln/>
          <a:effectLst>
            <a:outerShdw sx="100000" sy="100000" kx="0" ky="0" algn="bl" rotWithShape="0" blurRad="476250" dist="190500" dir="5400000">
              <a:srgbClr val="4A0E1C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744075" y="4018359"/>
            <a:ext cx="76800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C99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EVENT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44075" y="4532709"/>
            <a:ext cx="240098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579"/>
              </a:lnSpc>
              <a:buNone/>
            </a:pPr>
            <a:r>
              <a:rPr lang="en-US" sz="6300" dirty="0">
                <a:solidFill>
                  <a:srgbClr val="F4EB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</a:t>
            </a:r>
            <a:endParaRPr lang="en-US" sz="6300" dirty="0"/>
          </a:p>
        </p:txBody>
      </p:sp>
      <p:sp>
        <p:nvSpPr>
          <p:cNvPr id="13" name="Text 11"/>
          <p:cNvSpPr/>
          <p:nvPr/>
        </p:nvSpPr>
        <p:spPr>
          <a:xfrm>
            <a:off x="12098238" y="4932759"/>
            <a:ext cx="27432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EBD7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answer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744075" y="5770959"/>
            <a:ext cx="6981825" cy="9525"/>
          </a:xfrm>
          <a:prstGeom prst="rect">
            <a:avLst/>
          </a:prstGeom>
          <a:solidFill>
            <a:srgbClr val="F4EBD7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544050" y="6028134"/>
            <a:ext cx="725805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E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got the row in faster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>
                <a:solidFill>
                  <a:srgbClr val="F4E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matched the official scores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>
                <a:solidFill>
                  <a:srgbClr val="F4E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the scouters wanted to keep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43000" y="9001125"/>
            <a:ext cx="17602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5A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does not win on the numbers, we stop. Our existing data was never interrupted.</a:t>
            </a:r>
            <a:endParaRPr lang="en-US" sz="2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BD7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43000" y="9144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C99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GO WRONG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66850"/>
            <a:ext cx="13620750" cy="892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387"/>
              </a:lnSpc>
              <a:buNone/>
            </a:pPr>
            <a:r>
              <a:rPr lang="en-US" sz="66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list, with answers.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5638800"/>
            <a:ext cx="782955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ADF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1625" y="6010275"/>
            <a:ext cx="109728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C99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2260402" y="6210300"/>
            <a:ext cx="566750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Loud stands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260402" y="6667500"/>
            <a:ext cx="56675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real risk. Close-talk headsets fix it, and the pilot measures it.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315450" y="5638800"/>
            <a:ext cx="782955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ADF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44075" y="6010275"/>
            <a:ext cx="109728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C99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0523041" y="6210300"/>
            <a:ext cx="590390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wants to talk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523041" y="6667500"/>
            <a:ext cx="59039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they type. Both paths write identical rows to the sheet.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7677150"/>
            <a:ext cx="782955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ADF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71625" y="8048625"/>
            <a:ext cx="109728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C99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2350591" y="8248650"/>
            <a:ext cx="481490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mishears a word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350591" y="8705850"/>
            <a:ext cx="48149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A5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sends until a human sees the filled form and confirms it.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315450" y="7677150"/>
            <a:ext cx="7829550" cy="1695450"/>
          </a:xfrm>
          <a:prstGeom prst="roundRect">
            <a:avLst>
              <a:gd name="adj" fmla="val 3371"/>
            </a:avLst>
          </a:prstGeom>
          <a:solidFill>
            <a:srgbClr val="5E1224"/>
          </a:solidFill>
          <a:ln/>
        </p:spPr>
      </p:sp>
      <p:sp>
        <p:nvSpPr>
          <p:cNvPr id="17" name="Text 15"/>
          <p:cNvSpPr/>
          <p:nvPr/>
        </p:nvSpPr>
        <p:spPr>
          <a:xfrm>
            <a:off x="9734550" y="8039100"/>
            <a:ext cx="109728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C99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0516493" y="8239125"/>
            <a:ext cx="553408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E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student built it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0516493" y="8696325"/>
            <a:ext cx="55340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EBD7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server, no code to edit, and two more members trained before the season.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BD7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43000" y="9144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C99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66850"/>
            <a:ext cx="17602200" cy="892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387"/>
              </a:lnSpc>
              <a:buNone/>
            </a:pPr>
            <a:r>
              <a:rPr lang="en-US" sz="66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event. Nothing turned off.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7035254"/>
            <a:ext cx="5587945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66"/>
              </a:lnSpc>
              <a:buNone/>
            </a:pPr>
            <a:r>
              <a:rPr lang="en-US" sz="7200" dirty="0">
                <a:solidFill>
                  <a:srgbClr val="5E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8048625"/>
            <a:ext cx="55879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8667750"/>
            <a:ext cx="5232349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A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beside our normal scouting for a single competition.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603950" y="7035254"/>
            <a:ext cx="5587945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66"/>
              </a:lnSpc>
              <a:buNone/>
            </a:pPr>
            <a:r>
              <a:rPr lang="en-US" sz="7200" dirty="0">
                <a:solidFill>
                  <a:srgbClr val="5E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603950" y="8048625"/>
            <a:ext cx="55879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Scouters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603950" y="8667750"/>
            <a:ext cx="5232349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A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Volunteers who will say honestly if it turns out worse.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2064901" y="7035254"/>
            <a:ext cx="5587945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66"/>
              </a:lnSpc>
              <a:buNone/>
            </a:pPr>
            <a:r>
              <a:rPr lang="en-US" sz="7200" dirty="0">
                <a:solidFill>
                  <a:srgbClr val="5E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12064901" y="8048625"/>
            <a:ext cx="55879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064901" y="8667750"/>
            <a:ext cx="5232349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A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scouting never stops, so nothing is lost if we say no.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2026-09-10T22:34:51Z</dcterms:created>
  <dcterms:modified xsi:type="dcterms:W3CDTF">2026-09-10T22:34:51Z</dcterms:modified>
</cp:coreProperties>
</file>